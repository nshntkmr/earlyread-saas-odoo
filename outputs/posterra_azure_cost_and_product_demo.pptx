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3a1e502f9e4584" /><Relationship Type="http://schemas.openxmlformats.org/officeDocument/2006/relationships/extended-properties" Target="/docProps/app.xml" Id="R30f2de3bb9d84b87" /><Relationship Type="http://schemas.openxmlformats.org/officeDocument/2006/relationships/officeDocument" Target="/ppt/presentation.xml" Id="R4bbaa2ca4f3243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7b7638a7234415"/>
  </p:sldMasterIdLst>
  <p:notesMasterIdLst>
    <p:notesMasterId xmlns:r="http://schemas.openxmlformats.org/officeDocument/2006/relationships" r:id="R12345226b1384a31"/>
  </p:notesMasterIdLst>
  <p:sldIdLst>
    <p:sldId xmlns:r="http://schemas.openxmlformats.org/officeDocument/2006/relationships" id="256" r:id="R897cd4c1885d4776"/>
    <p:sldId xmlns:r="http://schemas.openxmlformats.org/officeDocument/2006/relationships" id="257" r:id="R32232feaf09d47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e8c66740b24a0e" /><Relationship Type="http://schemas.openxmlformats.org/officeDocument/2006/relationships/slideMaster" Target="/ppt/slideMasters/slideMaster1.xml" Id="R657b7638a7234415" /><Relationship Type="http://schemas.openxmlformats.org/officeDocument/2006/relationships/notesMaster" Target="/ppt/notesMasters/notesMaster1.xml" Id="R12345226b1384a31" /><Relationship Type="http://schemas.openxmlformats.org/officeDocument/2006/relationships/presProps" Target="/ppt/presProps.xml" Id="Rb7e89dcc21e541ed" /><Relationship Type="http://schemas.openxmlformats.org/officeDocument/2006/relationships/tableStyles" Target="/ppt/tableStyles.xml" Id="R079116bc1f01489b" /><Relationship Type="http://schemas.openxmlformats.org/officeDocument/2006/relationships/slide" Target="/ppt/slides/slide1.xml" Id="R897cd4c1885d4776" /><Relationship Type="http://schemas.openxmlformats.org/officeDocument/2006/relationships/slide" Target="/ppt/slides/slide2.xml" Id="R32232feaf09d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4a0baba54d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ad2bbf70445d4" /><Relationship Type="http://schemas.openxmlformats.org/officeDocument/2006/relationships/notesMaster" Target="/ppt/notesMasters/notesMaster1.xml" Id="Rce5b49d8ea8844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cf5a2498cb4cea" /><Relationship Type="http://schemas.openxmlformats.org/officeDocument/2006/relationships/notesMaster" Target="/ppt/notesMasters/notesMaster1.xml" Id="Red3fec07b5a347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bc38b79dc40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a356cd3b642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f99b6c01540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6fa0ca06a42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7dd5f209c41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c1f7a1fa246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a59082c35420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07cdfc28748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8ee5d81724153" /><Relationship Type="http://schemas.openxmlformats.org/officeDocument/2006/relationships/image" Target="/ppt/media/image.png" Id="Ra6a77b712ebc45b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78ac7019c47bc" /><Relationship Type="http://schemas.openxmlformats.org/officeDocument/2006/relationships/image" Target="/ppt/media/image2.png" Id="Ra81afad87fac432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a6a77b712ebc45b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81afad87fac432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77f81b89aa4f6f" /><Relationship Type="http://schemas.openxmlformats.org/officeDocument/2006/relationships/slideLayout" Target="/ppt/slideLayouts/slideLayout1.xml" Id="Rc5a3eee79b854fca" /><Relationship Type="http://schemas.openxmlformats.org/officeDocument/2006/relationships/slideLayout" Target="/ppt/slideLayouts/slideLayout2.xml" Id="Rd1de18438f1747cf" /><Relationship Type="http://schemas.openxmlformats.org/officeDocument/2006/relationships/slideLayout" Target="/ppt/slideLayouts/slideLayout3.xml" Id="Rca04c272676746ba" /><Relationship Type="http://schemas.openxmlformats.org/officeDocument/2006/relationships/slideLayout" Target="/ppt/slideLayouts/slideLayout4.xml" Id="R2ab36efe737e41ce" /><Relationship Type="http://schemas.openxmlformats.org/officeDocument/2006/relationships/slideLayout" Target="/ppt/slideLayouts/slideLayout5.xml" Id="Rb5b61a8bed204a46" /><Relationship Type="http://schemas.openxmlformats.org/officeDocument/2006/relationships/slideLayout" Target="/ppt/slideLayouts/slideLayout6.xml" Id="Rfd36daea156f4d66" /><Relationship Type="http://schemas.openxmlformats.org/officeDocument/2006/relationships/slideLayout" Target="/ppt/slideLayouts/slideLayout7.xml" Id="Rf2cabf5f8a574c0a" /><Relationship Type="http://schemas.openxmlformats.org/officeDocument/2006/relationships/slideLayout" Target="/ppt/slideLayouts/slideLayout8.xml" Id="R5fbac9a86f864b8f" /><Relationship Type="http://schemas.openxmlformats.org/officeDocument/2006/relationships/slideLayout" Target="/ppt/slideLayouts/slideLayout9.xml" Id="R7ad59f1084424ed0" /><Relationship Type="http://schemas.openxmlformats.org/officeDocument/2006/relationships/slideLayout" Target="/ppt/slideLayouts/slideLayout10.xml" Id="R6a33178b9b974da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a3eee79b854fca"/>
    <p:sldLayoutId xmlns:r="http://schemas.openxmlformats.org/officeDocument/2006/relationships" id="2147483650" r:id="Rd1de18438f1747cf"/>
    <p:sldLayoutId xmlns:r="http://schemas.openxmlformats.org/officeDocument/2006/relationships" id="2147483651" r:id="Rca04c272676746ba"/>
    <p:sldLayoutId xmlns:r="http://schemas.openxmlformats.org/officeDocument/2006/relationships" id="2147483652" r:id="R2ab36efe737e41ce"/>
    <p:sldLayoutId xmlns:r="http://schemas.openxmlformats.org/officeDocument/2006/relationships" id="2147483653" r:id="Rb5b61a8bed204a46"/>
    <p:sldLayoutId xmlns:r="http://schemas.openxmlformats.org/officeDocument/2006/relationships" id="2147483654" r:id="Rfd36daea156f4d66"/>
    <p:sldLayoutId xmlns:r="http://schemas.openxmlformats.org/officeDocument/2006/relationships" id="2147483655" r:id="Rf2cabf5f8a574c0a"/>
    <p:sldLayoutId xmlns:r="http://schemas.openxmlformats.org/officeDocument/2006/relationships" id="2147483656" r:id="R5fbac9a86f864b8f"/>
    <p:sldLayoutId xmlns:r="http://schemas.openxmlformats.org/officeDocument/2006/relationships" id="2147483657" r:id="R7ad59f1084424ed0"/>
    <p:sldLayoutId xmlns:r="http://schemas.openxmlformats.org/officeDocument/2006/relationships" id="2147483658" r:id="R6a33178b9b974da3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011c7947a4c78" /><Relationship Type="http://schemas.openxmlformats.org/officeDocument/2006/relationships/notesSlide" Target="/ppt/notesSlides/notesSlide1.xml" Id="R7b92623f1d5a44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31394d17b49f8" /><Relationship Type="http://schemas.openxmlformats.org/officeDocument/2006/relationships/notesSlide" Target="/ppt/notesSlides/notesSlide2.xml" Id="R44ec486f72734c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</a:defRPr>
            </a:pPr>
            <a:fld id="{AD75FED6-38D0-DE9C-92C0-6E7FA635581C}" type="slidenum">
              <a:rPr sz="1050">
                <a:solidFill>
                  <a:srgbClr val="000000"/>
                </a:solidFill>
              </a:rPr>
              <a:t>1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Azure Dev Environment: Expected Monthly Run Rate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0">
                <a:solidFill>
                  <a:srgbClr val="000000"/>
                </a:solidFill>
              </a:defRPr>
            </a:pPr>
            <a:r>
              <a:rPr sz="4350" b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~$580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 baseline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 month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0">
                <a:solidFill>
                  <a:srgbClr val="000000"/>
                </a:solidFill>
              </a:defRPr>
            </a:pPr>
            <a:r>
              <a:rPr sz="4350" b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$140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core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system node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0">
                <a:solidFill>
                  <a:srgbClr val="000000"/>
                </a:solidFill>
              </a:defRPr>
            </a:pPr>
            <a:r>
              <a:rPr sz="4350" b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$70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extra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 node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50" b="0">
                <a:solidFill>
                  <a:srgbClr val="000000"/>
                </a:solidFill>
              </a:defRPr>
            </a:pPr>
            <a:r>
              <a:rPr sz="4350" b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$20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registry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plus state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Estimate based on the current Dev infrastructure-as-code in Azure eastus2: private network, managed PostgreSQL, file storage, secrets vault, AKS runtime, gateway, certificate automation, and shared image registry. Rounded for planning; actual spend varies with uptime, logs, traffic, backups, and discounts.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</a:defRPr>
            </a:pPr>
            <a:fld id="{E2598689-54C9-18A7-3A19-ED76AA08988F}" type="slidenum">
              <a:rPr sz="1050">
                <a:solidFill>
                  <a:srgbClr val="000000"/>
                </a:solidFill>
              </a:rPr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0000"/>
                </a:solidFill>
              </a:defRPr>
            </a:pPr>
            <a:r>
              <a:rPr sz="2700" b="0">
                <a:solidFill>
                  <a:srgbClr val="000000"/>
                </a:solidFill>
              </a:rPr>
              <a:t>Client Demo: Configurable Healthcare Analytics Suite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8443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000000"/>
                </a:solidFill>
              </a:defRPr>
            </a:pPr>
            <a:r>
              <a:rPr sz="165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White-label, multi-app portal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650">
                <a:solidFill>
                  <a:srgbClr val="000000"/>
                </a:solidFill>
              </a:defRPr>
            </a:pPr>
            <a:r>
              <a:rPr sz="1650" b="0" i="0" u="none" cap="none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client can have its own branding, login, navigation, pages, tabs, widgets, and filters without new engineering work.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82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Strong RBAC and data scoping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Users are limited by app role, security group, and assigned provider or agency scope, with security-ready audit patterns for regulated data.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292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Analytics workbench built in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Admins can register data sources, build widgets, use safe query generation, and demo KPIs, charts, maps, tables, drilldowns, and saved comparisons.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2026-06-23T07:07:56.5100000Z</dcterms:created>
  <dcterms:modified xsi:type="dcterms:W3CDTF">2026-06-23T07:07:56.5100000Z</dcterms:modified>
</coreProperties>
</file>